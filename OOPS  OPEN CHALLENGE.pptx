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9" d="100"/>
          <a:sy n="89" d="100"/>
        </p:scale>
        <p:origin x="46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98FBDB14-DF6B-45F0-A249-33FBBE08C938}" type="datetimeFigureOut">
              <a:rPr lang="en-IN" smtClean="0"/>
              <a:t>21-07-2023</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4994765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FBDB14-DF6B-45F0-A249-33FBBE08C938}" type="datetimeFigureOut">
              <a:rPr lang="en-IN" smtClean="0"/>
              <a:t>21-07-2023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1958811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FBDB14-DF6B-45F0-A249-33FBBE08C938}" type="datetimeFigureOut">
              <a:rPr lang="en-IN" smtClean="0"/>
              <a:t>21-07-2023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291072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98FBDB14-DF6B-45F0-A249-33FBBE08C938}" type="datetimeFigureOut">
              <a:rPr lang="en-IN" smtClean="0"/>
              <a:t>21-07-2023</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32734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98FBDB14-DF6B-45F0-A249-33FBBE08C938}" type="datetimeFigureOut">
              <a:rPr lang="en-IN" smtClean="0"/>
              <a:t>21-07-2023</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4213081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8FBDB14-DF6B-45F0-A249-33FBBE08C938}" type="datetimeFigureOut">
              <a:rPr lang="en-IN" smtClean="0"/>
              <a:t>21-07-2023</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22775316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FBDB14-DF6B-45F0-A249-33FBBE08C938}" type="datetimeFigureOut">
              <a:rPr lang="en-IN" smtClean="0"/>
              <a:t>21-07-2023</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17107723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FBDB14-DF6B-45F0-A249-33FBBE08C938}" type="datetimeFigureOut">
              <a:rPr lang="en-IN" smtClean="0"/>
              <a:t>21-07-2023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21419477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8FBDB14-DF6B-45F0-A249-33FBBE08C938}" type="datetimeFigureOut">
              <a:rPr lang="en-IN" smtClean="0"/>
              <a:t>21-07-2023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36562546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FBDB14-DF6B-45F0-A249-33FBBE08C938}" type="datetimeFigureOut">
              <a:rPr lang="en-IN" smtClean="0"/>
              <a:t>21-07-2023</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2880824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8FBDB14-DF6B-45F0-A249-33FBBE08C938}" type="datetimeFigureOut">
              <a:rPr lang="en-IN" smtClean="0"/>
              <a:t>21-07-2023</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F3D68535-2DCA-4CC5-891B-92A39AE2F293}"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26504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8FBDB14-DF6B-45F0-A249-33FBBE08C938}" type="datetimeFigureOut">
              <a:rPr lang="en-IN" smtClean="0"/>
              <a:t>21-07-2023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13444462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8FBDB14-DF6B-45F0-A249-33FBBE08C938}" type="datetimeFigureOut">
              <a:rPr lang="en-IN" smtClean="0"/>
              <a:t>21-07-2023</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D68535-2DCA-4CC5-891B-92A39AE2F293}"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828454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98FBDB14-DF6B-45F0-A249-33FBBE08C938}" type="datetimeFigureOut">
              <a:rPr lang="en-IN" smtClean="0"/>
              <a:t>21-07-2023</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30505729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FBDB14-DF6B-45F0-A249-33FBBE08C938}" type="datetimeFigureOut">
              <a:rPr lang="en-IN" smtClean="0"/>
              <a:t>21-07-2023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11734871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8FBDB14-DF6B-45F0-A249-33FBBE08C938}" type="datetimeFigureOut">
              <a:rPr lang="en-IN" smtClean="0"/>
              <a:t>21-07-2023</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F3D68535-2DCA-4CC5-891B-92A39AE2F293}" type="slidenum">
              <a:rPr lang="en-IN" smtClean="0"/>
              <a:t>‹#›</a:t>
            </a:fld>
            <a:endParaRPr lang="en-IN"/>
          </a:p>
        </p:txBody>
      </p:sp>
    </p:spTree>
    <p:extLst>
      <p:ext uri="{BB962C8B-B14F-4D97-AF65-F5344CB8AC3E}">
        <p14:creationId xmlns:p14="http://schemas.microsoft.com/office/powerpoint/2010/main" val="24195585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98FBDB14-DF6B-45F0-A249-33FBBE08C938}" type="datetimeFigureOut">
              <a:rPr lang="en-IN" smtClean="0"/>
              <a:t>21-07-2023</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F3D68535-2DCA-4CC5-891B-92A39AE2F293}" type="slidenum">
              <a:rPr lang="en-IN" smtClean="0"/>
              <a:t>‹#›</a:t>
            </a:fld>
            <a:endParaRPr lang="en-IN"/>
          </a:p>
        </p:txBody>
      </p:sp>
    </p:spTree>
    <p:extLst>
      <p:ext uri="{BB962C8B-B14F-4D97-AF65-F5344CB8AC3E}">
        <p14:creationId xmlns:p14="http://schemas.microsoft.com/office/powerpoint/2010/main" val="170627756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196836"/>
            <a:ext cx="12192000" cy="6908186"/>
          </a:xfrm>
          <a:prstGeom prst="rect">
            <a:avLst/>
          </a:prstGeom>
        </p:spPr>
      </p:pic>
      <p:sp>
        <p:nvSpPr>
          <p:cNvPr id="2" name="Title 1"/>
          <p:cNvSpPr>
            <a:spLocks noGrp="1"/>
          </p:cNvSpPr>
          <p:nvPr>
            <p:ph type="ctrTitle"/>
          </p:nvPr>
        </p:nvSpPr>
        <p:spPr>
          <a:xfrm>
            <a:off x="1768416" y="2268748"/>
            <a:ext cx="9684438" cy="862641"/>
          </a:xfrm>
        </p:spPr>
        <p:txBody>
          <a:bodyPr>
            <a:normAutofit fontScale="90000"/>
          </a:bodyPr>
          <a:lstStyle/>
          <a:p>
            <a:r>
              <a:rPr lang="en-US" dirty="0" smtClean="0"/>
              <a:t>OOPS  OPEN CHALLENGE</a:t>
            </a:r>
            <a:r>
              <a:rPr lang="en-IN" dirty="0"/>
              <a:t/>
            </a:r>
            <a:br>
              <a:rPr lang="en-IN" dirty="0"/>
            </a:br>
            <a:r>
              <a:rPr lang="en-IN" dirty="0" smtClean="0"/>
              <a:t>        TOPIC: NYKAA</a:t>
            </a:r>
            <a:endParaRPr lang="en-IN" dirty="0"/>
          </a:p>
        </p:txBody>
      </p:sp>
      <p:sp>
        <p:nvSpPr>
          <p:cNvPr id="3" name="Subtitle 2"/>
          <p:cNvSpPr>
            <a:spLocks noGrp="1"/>
          </p:cNvSpPr>
          <p:nvPr>
            <p:ph type="subTitle" idx="1"/>
          </p:nvPr>
        </p:nvSpPr>
        <p:spPr>
          <a:xfrm>
            <a:off x="5952226" y="3602038"/>
            <a:ext cx="4715774" cy="1655762"/>
          </a:xfrm>
        </p:spPr>
        <p:txBody>
          <a:bodyPr/>
          <a:lstStyle/>
          <a:p>
            <a:r>
              <a:rPr lang="en-US" dirty="0" smtClean="0"/>
              <a:t>Team Members:</a:t>
            </a:r>
          </a:p>
          <a:p>
            <a:r>
              <a:rPr lang="en-US" dirty="0" smtClean="0"/>
              <a:t>Vibhashree B.S (103)</a:t>
            </a:r>
          </a:p>
          <a:p>
            <a:r>
              <a:rPr lang="en-US" dirty="0" smtClean="0"/>
              <a:t>Mitali  R.K  (129)</a:t>
            </a:r>
            <a:endParaRPr lang="en-IN" dirty="0"/>
          </a:p>
        </p:txBody>
      </p:sp>
    </p:spTree>
    <p:extLst>
      <p:ext uri="{BB962C8B-B14F-4D97-AF65-F5344CB8AC3E}">
        <p14:creationId xmlns:p14="http://schemas.microsoft.com/office/powerpoint/2010/main" val="13338592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Application Name: NYKAA</a:t>
            </a:r>
            <a:endParaRPr lang="en-IN" dirty="0"/>
          </a:p>
        </p:txBody>
      </p:sp>
      <p:sp>
        <p:nvSpPr>
          <p:cNvPr id="3" name="Content Placeholder 2"/>
          <p:cNvSpPr>
            <a:spLocks noGrp="1"/>
          </p:cNvSpPr>
          <p:nvPr>
            <p:ph idx="1"/>
          </p:nvPr>
        </p:nvSpPr>
        <p:spPr/>
        <p:txBody>
          <a:bodyPr>
            <a:normAutofit/>
          </a:bodyPr>
          <a:lstStyle/>
          <a:p>
            <a:r>
              <a:rPr lang="en-US" sz="3200" b="1" dirty="0" smtClean="0"/>
              <a:t>Problem Statement:</a:t>
            </a:r>
          </a:p>
          <a:p>
            <a:pPr marL="0" indent="0">
              <a:buNone/>
            </a:pPr>
            <a:r>
              <a:rPr lang="en-US" sz="2400" dirty="0" smtClean="0">
                <a:latin typeface="Arial Narrow" panose="020B0606020202030204" pitchFamily="34" charset="0"/>
                <a:ea typeface="Arial Unicode MS" panose="020B0604020202020204" pitchFamily="34" charset="-128"/>
                <a:cs typeface="Arial Unicode MS" panose="020B0604020202020204" pitchFamily="34" charset="-128"/>
              </a:rPr>
              <a:t> Develop and implement Nykaa  </a:t>
            </a:r>
            <a:r>
              <a:rPr lang="en-US" sz="2400" dirty="0">
                <a:latin typeface="Arial Narrow" panose="020B0606020202030204" pitchFamily="34" charset="0"/>
                <a:ea typeface="Arial Unicode MS" panose="020B0604020202020204" pitchFamily="34" charset="-128"/>
                <a:cs typeface="Arial Unicode MS" panose="020B0604020202020204" pitchFamily="34" charset="-128"/>
              </a:rPr>
              <a:t>to enhanced customer satisfaction, increased sales, and improved overall performance.</a:t>
            </a:r>
            <a:endParaRPr lang="en-IN" sz="2400" dirty="0">
              <a:latin typeface="Arial Narrow" panose="020B0606020202030204" pitchFamily="34" charset="0"/>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2751921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CLASSES</a:t>
            </a:r>
            <a:endParaRPr lang="en-IN" dirty="0"/>
          </a:p>
        </p:txBody>
      </p:sp>
      <p:sp>
        <p:nvSpPr>
          <p:cNvPr id="3" name="Content Placeholder 2"/>
          <p:cNvSpPr>
            <a:spLocks noGrp="1"/>
          </p:cNvSpPr>
          <p:nvPr>
            <p:ph idx="1"/>
          </p:nvPr>
        </p:nvSpPr>
        <p:spPr>
          <a:xfrm>
            <a:off x="2589212" y="2133599"/>
            <a:ext cx="8915400" cy="3965275"/>
          </a:xfrm>
        </p:spPr>
        <p:txBody>
          <a:bodyPr>
            <a:normAutofit/>
          </a:bodyPr>
          <a:lstStyle/>
          <a:p>
            <a:r>
              <a:rPr lang="en-US" sz="2400" dirty="0" smtClean="0">
                <a:latin typeface="Arial Narrow" panose="020B0606020202030204" pitchFamily="34" charset="0"/>
              </a:rPr>
              <a:t>There are totally 13 Classes:</a:t>
            </a:r>
          </a:p>
          <a:p>
            <a:pPr marL="457200" indent="-457200">
              <a:buAutoNum type="arabicPeriod"/>
            </a:pPr>
            <a:r>
              <a:rPr lang="en-US" sz="2400" dirty="0" smtClean="0">
                <a:latin typeface="Arial Narrow" panose="020B0606020202030204" pitchFamily="34" charset="0"/>
              </a:rPr>
              <a:t>Nykaa                 8. Blush </a:t>
            </a:r>
          </a:p>
          <a:p>
            <a:pPr marL="457200" indent="-457200">
              <a:buAutoNum type="arabicPeriod"/>
            </a:pPr>
            <a:r>
              <a:rPr lang="en-US" sz="2400" dirty="0" smtClean="0">
                <a:latin typeface="Arial Narrow" panose="020B0606020202030204" pitchFamily="34" charset="0"/>
              </a:rPr>
              <a:t>Makeup               9. Mascara</a:t>
            </a:r>
          </a:p>
          <a:p>
            <a:pPr marL="457200" indent="-457200">
              <a:buAutoNum type="arabicPeriod"/>
            </a:pPr>
            <a:r>
              <a:rPr lang="en-US" sz="2400" dirty="0" smtClean="0">
                <a:latin typeface="Arial Narrow" panose="020B0606020202030204" pitchFamily="34" charset="0"/>
              </a:rPr>
              <a:t>Haircare              10. Moroccoin oil</a:t>
            </a:r>
          </a:p>
          <a:p>
            <a:pPr marL="457200" indent="-457200">
              <a:buAutoNum type="arabicPeriod"/>
            </a:pPr>
            <a:r>
              <a:rPr lang="en-US" sz="2400" dirty="0" smtClean="0">
                <a:latin typeface="Arial Narrow" panose="020B0606020202030204" pitchFamily="34" charset="0"/>
              </a:rPr>
              <a:t>Fragrance           11. Loreal</a:t>
            </a:r>
          </a:p>
          <a:p>
            <a:pPr marL="457200" indent="-457200">
              <a:buAutoNum type="arabicPeriod"/>
            </a:pPr>
            <a:r>
              <a:rPr lang="en-US" sz="2400" dirty="0" smtClean="0">
                <a:latin typeface="Arial Narrow" panose="020B0606020202030204" pitchFamily="34" charset="0"/>
              </a:rPr>
              <a:t>Skincare              12. Moisturizer</a:t>
            </a:r>
          </a:p>
          <a:p>
            <a:pPr marL="457200" indent="-457200">
              <a:buAutoNum type="arabicPeriod"/>
            </a:pPr>
            <a:r>
              <a:rPr lang="en-US" sz="2400" dirty="0" smtClean="0">
                <a:latin typeface="Arial Narrow" panose="020B0606020202030204" pitchFamily="34" charset="0"/>
              </a:rPr>
              <a:t>Retail Store          13. Toner</a:t>
            </a:r>
          </a:p>
          <a:p>
            <a:pPr marL="457200" indent="-457200">
              <a:buAutoNum type="arabicPeriod"/>
            </a:pPr>
            <a:r>
              <a:rPr lang="en-US" sz="2400" dirty="0" smtClean="0">
                <a:latin typeface="Arial Narrow" panose="020B0606020202030204" pitchFamily="34" charset="0"/>
              </a:rPr>
              <a:t>Lipstick</a:t>
            </a:r>
          </a:p>
          <a:p>
            <a:pPr marL="457200" indent="-457200">
              <a:buAutoNum type="arabicPeriod"/>
            </a:pPr>
            <a:endParaRPr lang="en-IN" sz="2400" dirty="0">
              <a:latin typeface="Arial Narrow" panose="020B0606020202030204" pitchFamily="34" charset="0"/>
            </a:endParaRPr>
          </a:p>
        </p:txBody>
      </p:sp>
    </p:spTree>
    <p:extLst>
      <p:ext uri="{BB962C8B-B14F-4D97-AF65-F5344CB8AC3E}">
        <p14:creationId xmlns:p14="http://schemas.microsoft.com/office/powerpoint/2010/main" val="1405059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DESCRIPTION OF CLASSES</a:t>
            </a:r>
            <a:endParaRPr lang="en-IN" dirty="0"/>
          </a:p>
        </p:txBody>
      </p:sp>
      <p:sp>
        <p:nvSpPr>
          <p:cNvPr id="3" name="Content Placeholder 2"/>
          <p:cNvSpPr>
            <a:spLocks noGrp="1"/>
          </p:cNvSpPr>
          <p:nvPr>
            <p:ph idx="1"/>
          </p:nvPr>
        </p:nvSpPr>
        <p:spPr/>
        <p:txBody>
          <a:bodyPr>
            <a:normAutofit fontScale="70000" lnSpcReduction="20000"/>
          </a:bodyPr>
          <a:lstStyle/>
          <a:p>
            <a:pPr marL="457200" indent="-457200">
              <a:buAutoNum type="arabicPeriod"/>
            </a:pPr>
            <a:r>
              <a:rPr lang="en-US" sz="2400" b="1" dirty="0" smtClean="0">
                <a:latin typeface="Arial Narrow" panose="020B0606020202030204" pitchFamily="34" charset="0"/>
              </a:rPr>
              <a:t>NYKAA:</a:t>
            </a:r>
          </a:p>
          <a:p>
            <a:pPr>
              <a:buFont typeface="Arial" panose="020B0604020202020204" pitchFamily="34" charset="0"/>
              <a:buChar char="•"/>
            </a:pPr>
            <a:r>
              <a:rPr lang="en-US" sz="2400" dirty="0">
                <a:latin typeface="Arial Narrow" panose="020B0606020202030204" pitchFamily="34" charset="0"/>
              </a:rPr>
              <a:t>  </a:t>
            </a:r>
            <a:r>
              <a:rPr lang="en-US" sz="2400" dirty="0" smtClean="0">
                <a:latin typeface="Arial Narrow" panose="020B0606020202030204" pitchFamily="34" charset="0"/>
              </a:rPr>
              <a:t>This </a:t>
            </a:r>
            <a:r>
              <a:rPr lang="en-US" sz="2400" dirty="0">
                <a:latin typeface="Arial Narrow" panose="020B0606020202030204" pitchFamily="34" charset="0"/>
              </a:rPr>
              <a:t>is the base class representing a Nykaa user.</a:t>
            </a:r>
          </a:p>
          <a:p>
            <a:pPr>
              <a:buFont typeface="Arial" panose="020B0604020202020204" pitchFamily="34" charset="0"/>
              <a:buChar char="•"/>
            </a:pPr>
            <a:r>
              <a:rPr lang="en-US" sz="2400" dirty="0">
                <a:latin typeface="Arial Narrow" panose="020B0606020202030204" pitchFamily="34" charset="0"/>
              </a:rPr>
              <a:t>It has three data members:</a:t>
            </a:r>
          </a:p>
          <a:p>
            <a:pPr marL="0" indent="0">
              <a:buNone/>
            </a:pPr>
            <a:r>
              <a:rPr lang="en-US" sz="2400" dirty="0" smtClean="0">
                <a:latin typeface="Arial Narrow" panose="020B0606020202030204" pitchFamily="34" charset="0"/>
              </a:rPr>
              <a:t>         Username</a:t>
            </a:r>
            <a:r>
              <a:rPr lang="en-US" sz="2400" dirty="0">
                <a:latin typeface="Arial Narrow" panose="020B0606020202030204" pitchFamily="34" charset="0"/>
              </a:rPr>
              <a:t>: A string representing the user's username.</a:t>
            </a:r>
          </a:p>
          <a:p>
            <a:pPr marL="0" indent="0">
              <a:buNone/>
            </a:pPr>
            <a:r>
              <a:rPr lang="en-US" sz="2400" dirty="0" smtClean="0">
                <a:latin typeface="Arial Narrow" panose="020B0606020202030204" pitchFamily="34" charset="0"/>
              </a:rPr>
              <a:t>         Password</a:t>
            </a:r>
            <a:r>
              <a:rPr lang="en-US" sz="2400" dirty="0">
                <a:latin typeface="Arial Narrow" panose="020B0606020202030204" pitchFamily="34" charset="0"/>
              </a:rPr>
              <a:t>: A string representing the user's password.</a:t>
            </a:r>
          </a:p>
          <a:p>
            <a:pPr marL="0" indent="0">
              <a:buNone/>
            </a:pPr>
            <a:r>
              <a:rPr lang="en-US" sz="2400" dirty="0" smtClean="0">
                <a:latin typeface="Arial Narrow" panose="020B0606020202030204" pitchFamily="34" charset="0"/>
              </a:rPr>
              <a:t>          Id</a:t>
            </a:r>
            <a:r>
              <a:rPr lang="en-US" sz="2400" dirty="0">
                <a:latin typeface="Arial Narrow" panose="020B0606020202030204" pitchFamily="34" charset="0"/>
              </a:rPr>
              <a:t>: An integer representing the user's ID.</a:t>
            </a:r>
          </a:p>
          <a:p>
            <a:pPr>
              <a:buFont typeface="Arial" panose="020B0604020202020204" pitchFamily="34" charset="0"/>
              <a:buChar char="•"/>
            </a:pPr>
            <a:r>
              <a:rPr lang="en-US" sz="2400" dirty="0">
                <a:latin typeface="Arial Narrow" panose="020B0606020202030204" pitchFamily="34" charset="0"/>
              </a:rPr>
              <a:t>It provides two constructors:</a:t>
            </a:r>
          </a:p>
          <a:p>
            <a:pPr marL="0" indent="0">
              <a:buNone/>
            </a:pPr>
            <a:r>
              <a:rPr lang="en-US" sz="2400" dirty="0" smtClean="0">
                <a:latin typeface="Arial Narrow" panose="020B0606020202030204" pitchFamily="34" charset="0"/>
              </a:rPr>
              <a:t>   Default </a:t>
            </a:r>
            <a:r>
              <a:rPr lang="en-US" sz="2400" dirty="0">
                <a:latin typeface="Arial Narrow" panose="020B0606020202030204" pitchFamily="34" charset="0"/>
              </a:rPr>
              <a:t>constructor: Initializes the data members with default values.</a:t>
            </a:r>
          </a:p>
          <a:p>
            <a:pPr marL="0" indent="0">
              <a:buNone/>
            </a:pPr>
            <a:r>
              <a:rPr lang="en-US" sz="2400" dirty="0" smtClean="0">
                <a:latin typeface="Arial Narrow" panose="020B0606020202030204" pitchFamily="34" charset="0"/>
              </a:rPr>
              <a:t>   Parameterized </a:t>
            </a:r>
            <a:r>
              <a:rPr lang="en-US" sz="2400" dirty="0">
                <a:latin typeface="Arial Narrow" panose="020B0606020202030204" pitchFamily="34" charset="0"/>
              </a:rPr>
              <a:t>constructor: Initializes the data members </a:t>
            </a:r>
            <a:r>
              <a:rPr lang="en-US" sz="2400" dirty="0" smtClean="0">
                <a:latin typeface="Arial Narrow" panose="020B0606020202030204" pitchFamily="34" charset="0"/>
              </a:rPr>
              <a:t>with </a:t>
            </a:r>
            <a:r>
              <a:rPr lang="en-US" sz="2400" dirty="0">
                <a:latin typeface="Arial Narrow" panose="020B0606020202030204" pitchFamily="34" charset="0"/>
              </a:rPr>
              <a:t>provided values after checking </a:t>
            </a:r>
            <a:r>
              <a:rPr lang="en-US" sz="2400" dirty="0" smtClean="0">
                <a:latin typeface="Arial Narrow" panose="020B0606020202030204" pitchFamily="34" charset="0"/>
              </a:rPr>
              <a:t>the password                </a:t>
            </a:r>
            <a:endParaRPr lang="en-US" sz="2400" dirty="0">
              <a:latin typeface="Arial Narrow" panose="020B0606020202030204" pitchFamily="34" charset="0"/>
            </a:endParaRPr>
          </a:p>
          <a:p>
            <a:pPr>
              <a:buFont typeface="Arial" panose="020B0604020202020204" pitchFamily="34" charset="0"/>
              <a:buChar char="•"/>
            </a:pPr>
            <a:r>
              <a:rPr lang="en-US" sz="2400" dirty="0">
                <a:latin typeface="Arial Narrow" panose="020B0606020202030204" pitchFamily="34" charset="0"/>
              </a:rPr>
              <a:t>It has a virtual method login_credentials() to display the user's login credentials.</a:t>
            </a:r>
            <a:endParaRPr lang="en-IN" sz="2400" dirty="0">
              <a:latin typeface="Arial Narrow" panose="020B0606020202030204" pitchFamily="34" charset="0"/>
            </a:endParaRPr>
          </a:p>
        </p:txBody>
      </p:sp>
    </p:spTree>
    <p:extLst>
      <p:ext uri="{BB962C8B-B14F-4D97-AF65-F5344CB8AC3E}">
        <p14:creationId xmlns:p14="http://schemas.microsoft.com/office/powerpoint/2010/main" val="22937757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40000" lnSpcReduction="20000"/>
          </a:bodyPr>
          <a:lstStyle/>
          <a:p>
            <a:pPr marL="457200" indent="-457200">
              <a:buAutoNum type="arabicPeriod" startAt="2"/>
            </a:pPr>
            <a:r>
              <a:rPr lang="en-US" sz="2400" b="1" dirty="0" smtClean="0"/>
              <a:t>MAKEUP</a:t>
            </a:r>
            <a:endParaRPr lang="en-IN" sz="2400" b="1" dirty="0"/>
          </a:p>
          <a:p>
            <a:pPr>
              <a:buFont typeface="Arial" panose="020B0604020202020204" pitchFamily="34" charset="0"/>
              <a:buChar char="•"/>
            </a:pPr>
            <a:r>
              <a:rPr lang="en-US" sz="2900" dirty="0" smtClean="0">
                <a:latin typeface="Arial Narrow" panose="020B0606020202030204" pitchFamily="34" charset="0"/>
              </a:rPr>
              <a:t>This </a:t>
            </a:r>
            <a:r>
              <a:rPr lang="en-US" sz="2900" dirty="0">
                <a:latin typeface="Arial Narrow" panose="020B0606020202030204" pitchFamily="34" charset="0"/>
              </a:rPr>
              <a:t>class represents the Makeup section of Nykaa products and extends the functionality of the base Nykaa class.</a:t>
            </a:r>
          </a:p>
          <a:p>
            <a:pPr>
              <a:buFont typeface="Arial" panose="020B0604020202020204" pitchFamily="34" charset="0"/>
              <a:buChar char="•"/>
            </a:pPr>
            <a:r>
              <a:rPr lang="en-US" sz="2900" dirty="0">
                <a:latin typeface="Arial Narrow" panose="020B0606020202030204" pitchFamily="34" charset="0"/>
              </a:rPr>
              <a:t>It has four data members:</a:t>
            </a:r>
          </a:p>
          <a:p>
            <a:pPr marL="0" indent="0">
              <a:buNone/>
            </a:pPr>
            <a:r>
              <a:rPr lang="en-US" sz="2900" dirty="0" smtClean="0">
                <a:latin typeface="Arial Narrow" panose="020B0606020202030204" pitchFamily="34" charset="0"/>
              </a:rPr>
              <a:t>          ProductType</a:t>
            </a:r>
            <a:r>
              <a:rPr lang="en-US" sz="2900" dirty="0">
                <a:latin typeface="Arial Narrow" panose="020B0606020202030204" pitchFamily="34" charset="0"/>
              </a:rPr>
              <a:t>: A string representing the type of makeup product (Lipstick, Blush, Mascara).</a:t>
            </a:r>
          </a:p>
          <a:p>
            <a:pPr marL="0" indent="0">
              <a:buNone/>
            </a:pPr>
            <a:r>
              <a:rPr lang="en-US" sz="2900" dirty="0" smtClean="0">
                <a:latin typeface="Arial Narrow" panose="020B0606020202030204" pitchFamily="34" charset="0"/>
              </a:rPr>
              <a:t>           Brand</a:t>
            </a:r>
            <a:r>
              <a:rPr lang="en-US" sz="2900" dirty="0">
                <a:latin typeface="Arial Narrow" panose="020B0606020202030204" pitchFamily="34" charset="0"/>
              </a:rPr>
              <a:t>: A string representing the brand of the makeup product.</a:t>
            </a:r>
          </a:p>
          <a:p>
            <a:pPr marL="0" indent="0">
              <a:buNone/>
            </a:pPr>
            <a:r>
              <a:rPr lang="en-US" sz="2900" dirty="0" smtClean="0">
                <a:latin typeface="Arial Narrow" panose="020B0606020202030204" pitchFamily="34" charset="0"/>
              </a:rPr>
              <a:t>          Shade</a:t>
            </a:r>
            <a:r>
              <a:rPr lang="en-US" sz="2900" dirty="0">
                <a:latin typeface="Arial Narrow" panose="020B0606020202030204" pitchFamily="34" charset="0"/>
              </a:rPr>
              <a:t>: A string representing the shade of the lipstick product.</a:t>
            </a:r>
          </a:p>
          <a:p>
            <a:pPr marL="0" indent="0">
              <a:buNone/>
            </a:pPr>
            <a:r>
              <a:rPr lang="en-US" sz="2900" dirty="0" smtClean="0">
                <a:latin typeface="Arial Narrow" panose="020B0606020202030204" pitchFamily="34" charset="0"/>
              </a:rPr>
              <a:t>          Price</a:t>
            </a:r>
            <a:r>
              <a:rPr lang="en-US" sz="2900" dirty="0">
                <a:latin typeface="Arial Narrow" panose="020B0606020202030204" pitchFamily="34" charset="0"/>
              </a:rPr>
              <a:t>: A float representing the price of the selected makeup product.</a:t>
            </a:r>
          </a:p>
          <a:p>
            <a:pPr>
              <a:buFont typeface="Arial" panose="020B0604020202020204" pitchFamily="34" charset="0"/>
              <a:buChar char="•"/>
            </a:pPr>
            <a:r>
              <a:rPr lang="en-US" sz="2900" dirty="0">
                <a:latin typeface="Arial Narrow" panose="020B0606020202030204" pitchFamily="34" charset="0"/>
              </a:rPr>
              <a:t>It provides several member functions:</a:t>
            </a:r>
          </a:p>
          <a:p>
            <a:pPr marL="0" indent="0">
              <a:buNone/>
            </a:pPr>
            <a:r>
              <a:rPr lang="en-US" sz="2900" dirty="0" smtClean="0">
                <a:latin typeface="Arial Narrow" panose="020B0606020202030204" pitchFamily="34" charset="0"/>
              </a:rPr>
              <a:t>      selectProductType</a:t>
            </a:r>
            <a:r>
              <a:rPr lang="en-US" sz="2900" dirty="0">
                <a:latin typeface="Arial Narrow" panose="020B0606020202030204" pitchFamily="34" charset="0"/>
              </a:rPr>
              <a:t>(): Allows the user to choose a product type (Lipstick, Blush, Mascara).</a:t>
            </a:r>
          </a:p>
          <a:p>
            <a:pPr marL="0" indent="0">
              <a:buNone/>
            </a:pPr>
            <a:r>
              <a:rPr lang="en-US" sz="2900" dirty="0" smtClean="0">
                <a:latin typeface="Arial Narrow" panose="020B0606020202030204" pitchFamily="34" charset="0"/>
              </a:rPr>
              <a:t>        selectBrand</a:t>
            </a:r>
            <a:r>
              <a:rPr lang="en-US" sz="2900" dirty="0">
                <a:latin typeface="Arial Narrow" panose="020B0606020202030204" pitchFamily="34" charset="0"/>
              </a:rPr>
              <a:t>(): Allows the user to choose a brand (Maybelline, Loreal, MAC).</a:t>
            </a:r>
          </a:p>
          <a:p>
            <a:pPr marL="0" indent="0">
              <a:buNone/>
            </a:pPr>
            <a:r>
              <a:rPr lang="en-US" sz="2900" dirty="0" smtClean="0">
                <a:latin typeface="Arial Narrow" panose="020B0606020202030204" pitchFamily="34" charset="0"/>
              </a:rPr>
              <a:t>       selectShade</a:t>
            </a:r>
            <a:r>
              <a:rPr lang="en-US" sz="2900" dirty="0">
                <a:latin typeface="Arial Narrow" panose="020B0606020202030204" pitchFamily="34" charset="0"/>
              </a:rPr>
              <a:t>(): Allows the user to choose a shade (for Lipstick product type only).</a:t>
            </a:r>
          </a:p>
          <a:p>
            <a:pPr marL="0" indent="0">
              <a:buNone/>
            </a:pPr>
            <a:r>
              <a:rPr lang="en-US" sz="2900" dirty="0" smtClean="0">
                <a:latin typeface="Arial Narrow" panose="020B0606020202030204" pitchFamily="34" charset="0"/>
              </a:rPr>
              <a:t>          setPrice</a:t>
            </a:r>
            <a:r>
              <a:rPr lang="en-US" sz="2900" dirty="0">
                <a:latin typeface="Arial Narrow" panose="020B0606020202030204" pitchFamily="34" charset="0"/>
              </a:rPr>
              <a:t>(): Sets the price based on the selected product type and brand.</a:t>
            </a:r>
          </a:p>
          <a:p>
            <a:pPr marL="0" indent="0">
              <a:buNone/>
            </a:pPr>
            <a:r>
              <a:rPr lang="en-US" sz="2900" dirty="0" smtClean="0">
                <a:latin typeface="Arial Narrow" panose="020B0606020202030204" pitchFamily="34" charset="0"/>
              </a:rPr>
              <a:t>        display</a:t>
            </a:r>
            <a:r>
              <a:rPr lang="en-US" sz="2900" dirty="0">
                <a:latin typeface="Arial Narrow" panose="020B0606020202030204" pitchFamily="34" charset="0"/>
              </a:rPr>
              <a:t>(): Displays the user's selected makeup product and its details.</a:t>
            </a:r>
            <a:endParaRPr lang="en-IN" sz="2900" dirty="0">
              <a:latin typeface="Arial Narrow" panose="020B0606020202030204" pitchFamily="34" charset="0"/>
            </a:endParaRPr>
          </a:p>
        </p:txBody>
      </p:sp>
    </p:spTree>
    <p:extLst>
      <p:ext uri="{BB962C8B-B14F-4D97-AF65-F5344CB8AC3E}">
        <p14:creationId xmlns:p14="http://schemas.microsoft.com/office/powerpoint/2010/main" val="3049086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smtClean="0"/>
              <a:t>3. HAIRCARE:</a:t>
            </a:r>
            <a:endParaRPr lang="en-IN" b="1" dirty="0"/>
          </a:p>
          <a:p>
            <a:pPr>
              <a:buFont typeface="Arial" panose="020B0604020202020204" pitchFamily="34" charset="0"/>
              <a:buChar char="•"/>
            </a:pPr>
            <a:r>
              <a:rPr lang="en-US" sz="1900" dirty="0">
                <a:latin typeface="Arial Narrow" panose="020B0606020202030204" pitchFamily="34" charset="0"/>
              </a:rPr>
              <a:t>This class represents the Haircare section of Nykaa products and extends the functionality of the base Nykaa class.</a:t>
            </a:r>
          </a:p>
          <a:p>
            <a:pPr>
              <a:buFont typeface="Arial" panose="020B0604020202020204" pitchFamily="34" charset="0"/>
              <a:buChar char="•"/>
            </a:pPr>
            <a:r>
              <a:rPr lang="en-US" sz="1900" dirty="0">
                <a:latin typeface="Arial Narrow" panose="020B0606020202030204" pitchFamily="34" charset="0"/>
              </a:rPr>
              <a:t>It has three data members:</a:t>
            </a:r>
          </a:p>
          <a:p>
            <a:pPr marL="0" indent="0">
              <a:buNone/>
            </a:pPr>
            <a:r>
              <a:rPr lang="en-US" sz="1900" dirty="0" smtClean="0">
                <a:latin typeface="Arial Narrow" panose="020B0606020202030204" pitchFamily="34" charset="0"/>
              </a:rPr>
              <a:t>           brand</a:t>
            </a:r>
            <a:r>
              <a:rPr lang="en-US" sz="1900" dirty="0">
                <a:latin typeface="Arial Narrow" panose="020B0606020202030204" pitchFamily="34" charset="0"/>
              </a:rPr>
              <a:t>: A string representing the brand of the haircare product (Moroccanoil, Loreal).</a:t>
            </a:r>
          </a:p>
          <a:p>
            <a:pPr marL="0" indent="0">
              <a:buNone/>
            </a:pPr>
            <a:r>
              <a:rPr lang="en-US" sz="1900" dirty="0" smtClean="0">
                <a:latin typeface="Arial Narrow" panose="020B0606020202030204" pitchFamily="34" charset="0"/>
              </a:rPr>
              <a:t>         productType</a:t>
            </a:r>
            <a:r>
              <a:rPr lang="en-US" sz="1900" dirty="0">
                <a:latin typeface="Arial Narrow" panose="020B0606020202030204" pitchFamily="34" charset="0"/>
              </a:rPr>
              <a:t>: A string representing the type of haircare product (Shampoo, Conditioner, Serum, Mask).</a:t>
            </a:r>
          </a:p>
          <a:p>
            <a:pPr marL="0" indent="0">
              <a:buNone/>
            </a:pPr>
            <a:r>
              <a:rPr lang="en-US" sz="1900" dirty="0" smtClean="0">
                <a:latin typeface="Arial Narrow" panose="020B0606020202030204" pitchFamily="34" charset="0"/>
              </a:rPr>
              <a:t>         price</a:t>
            </a:r>
            <a:r>
              <a:rPr lang="en-US" sz="1900" dirty="0">
                <a:latin typeface="Arial Narrow" panose="020B0606020202030204" pitchFamily="34" charset="0"/>
              </a:rPr>
              <a:t>: A float representing the price of the selected haircare product.</a:t>
            </a:r>
          </a:p>
          <a:p>
            <a:pPr>
              <a:buFont typeface="Arial" panose="020B0604020202020204" pitchFamily="34" charset="0"/>
              <a:buChar char="•"/>
            </a:pPr>
            <a:r>
              <a:rPr lang="en-US" sz="1900" dirty="0">
                <a:latin typeface="Arial Narrow" panose="020B0606020202030204" pitchFamily="34" charset="0"/>
              </a:rPr>
              <a:t>It provides several member functions:</a:t>
            </a:r>
          </a:p>
          <a:p>
            <a:pPr marL="0" indent="0">
              <a:buNone/>
            </a:pPr>
            <a:r>
              <a:rPr lang="en-US" sz="1900" dirty="0" smtClean="0">
                <a:latin typeface="Arial Narrow" panose="020B0606020202030204" pitchFamily="34" charset="0"/>
              </a:rPr>
              <a:t>     selectBrand</a:t>
            </a:r>
            <a:r>
              <a:rPr lang="en-US" sz="1900" dirty="0">
                <a:latin typeface="Arial Narrow" panose="020B0606020202030204" pitchFamily="34" charset="0"/>
              </a:rPr>
              <a:t>(): Allows the user to choose a brand (Moroccanoil, Loreal).</a:t>
            </a:r>
          </a:p>
          <a:p>
            <a:pPr marL="0" indent="0">
              <a:buNone/>
            </a:pPr>
            <a:r>
              <a:rPr lang="en-US" sz="1900" dirty="0" smtClean="0">
                <a:latin typeface="Arial Narrow" panose="020B0606020202030204" pitchFamily="34" charset="0"/>
              </a:rPr>
              <a:t>      selectProductType</a:t>
            </a:r>
            <a:r>
              <a:rPr lang="en-US" sz="1900" dirty="0">
                <a:latin typeface="Arial Narrow" panose="020B0606020202030204" pitchFamily="34" charset="0"/>
              </a:rPr>
              <a:t>(): Allows the user to choose a product type (depending on the selected brand).</a:t>
            </a:r>
          </a:p>
          <a:p>
            <a:pPr marL="0" indent="0">
              <a:buNone/>
            </a:pPr>
            <a:r>
              <a:rPr lang="en-US" sz="1900" dirty="0" smtClean="0">
                <a:latin typeface="Arial Narrow" panose="020B0606020202030204" pitchFamily="34" charset="0"/>
              </a:rPr>
              <a:t>       setPrice</a:t>
            </a:r>
            <a:r>
              <a:rPr lang="en-US" sz="1900" dirty="0">
                <a:latin typeface="Arial Narrow" panose="020B0606020202030204" pitchFamily="34" charset="0"/>
              </a:rPr>
              <a:t>(): Sets the price based on the selected brand and product type.</a:t>
            </a:r>
          </a:p>
          <a:p>
            <a:pPr marL="0" indent="0">
              <a:buNone/>
            </a:pPr>
            <a:r>
              <a:rPr lang="en-US" sz="1900" dirty="0" smtClean="0">
                <a:latin typeface="Arial Narrow" panose="020B0606020202030204" pitchFamily="34" charset="0"/>
              </a:rPr>
              <a:t>      display</a:t>
            </a:r>
            <a:r>
              <a:rPr lang="en-US" sz="1900" dirty="0">
                <a:latin typeface="Arial Narrow" panose="020B0606020202030204" pitchFamily="34" charset="0"/>
              </a:rPr>
              <a:t>(): Displays the user's selected haircare product and its details.</a:t>
            </a:r>
            <a:endParaRPr lang="en-IN" sz="1900" dirty="0">
              <a:latin typeface="Arial Narrow" panose="020B0606020202030204" pitchFamily="34" charset="0"/>
            </a:endParaRPr>
          </a:p>
        </p:txBody>
      </p:sp>
    </p:spTree>
    <p:extLst>
      <p:ext uri="{BB962C8B-B14F-4D97-AF65-F5344CB8AC3E}">
        <p14:creationId xmlns:p14="http://schemas.microsoft.com/office/powerpoint/2010/main" val="1145733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85000" lnSpcReduction="20000"/>
          </a:bodyPr>
          <a:lstStyle/>
          <a:p>
            <a:pPr marL="0" indent="0">
              <a:buNone/>
            </a:pPr>
            <a:r>
              <a:rPr lang="en-US" b="1" dirty="0"/>
              <a:t>4</a:t>
            </a:r>
            <a:r>
              <a:rPr lang="en-US" b="1" dirty="0" smtClean="0"/>
              <a:t>. FRAGRANCE</a:t>
            </a:r>
            <a:endParaRPr lang="en-IN" b="1" dirty="0"/>
          </a:p>
          <a:p>
            <a:pPr>
              <a:buFont typeface="Arial" panose="020B0604020202020204" pitchFamily="34" charset="0"/>
              <a:buChar char="•"/>
            </a:pPr>
            <a:r>
              <a:rPr lang="en-US" dirty="0">
                <a:latin typeface="Arial Narrow" panose="020B0606020202030204" pitchFamily="34" charset="0"/>
              </a:rPr>
              <a:t>This class represents the Fragrance section of Nykaa products and extends the functionality of the base Nykaa class.</a:t>
            </a:r>
          </a:p>
          <a:p>
            <a:pPr>
              <a:buFont typeface="Arial" panose="020B0604020202020204" pitchFamily="34" charset="0"/>
              <a:buChar char="•"/>
            </a:pPr>
            <a:r>
              <a:rPr lang="en-US" dirty="0">
                <a:latin typeface="Arial Narrow" panose="020B0606020202030204" pitchFamily="34" charset="0"/>
              </a:rPr>
              <a:t>It has four data members:</a:t>
            </a:r>
          </a:p>
          <a:p>
            <a:pPr marL="0" indent="0">
              <a:buNone/>
            </a:pPr>
            <a:r>
              <a:rPr lang="en-US" dirty="0" smtClean="0">
                <a:latin typeface="Arial Narrow" panose="020B0606020202030204" pitchFamily="34" charset="0"/>
              </a:rPr>
              <a:t>          category</a:t>
            </a:r>
            <a:r>
              <a:rPr lang="en-US" dirty="0">
                <a:latin typeface="Arial Narrow" panose="020B0606020202030204" pitchFamily="34" charset="0"/>
              </a:rPr>
              <a:t>: A string representing the category of the fragrance (Men, Women, Unisex).</a:t>
            </a:r>
          </a:p>
          <a:p>
            <a:pPr marL="0" indent="0">
              <a:buNone/>
            </a:pPr>
            <a:r>
              <a:rPr lang="en-US" dirty="0" smtClean="0">
                <a:latin typeface="Arial Narrow" panose="020B0606020202030204" pitchFamily="34" charset="0"/>
              </a:rPr>
              <a:t>            fragrancenote</a:t>
            </a:r>
            <a:r>
              <a:rPr lang="en-US" dirty="0">
                <a:latin typeface="Arial Narrow" panose="020B0606020202030204" pitchFamily="34" charset="0"/>
              </a:rPr>
              <a:t>: A string representing the fragrance note (Aqua, Floral, Fruity, Woody, Spice).</a:t>
            </a:r>
          </a:p>
          <a:p>
            <a:pPr marL="0" indent="0">
              <a:buNone/>
            </a:pPr>
            <a:r>
              <a:rPr lang="en-US" dirty="0" smtClean="0">
                <a:latin typeface="Arial Narrow" panose="020B0606020202030204" pitchFamily="34" charset="0"/>
              </a:rPr>
              <a:t>           brandname</a:t>
            </a:r>
            <a:r>
              <a:rPr lang="en-US" dirty="0">
                <a:latin typeface="Arial Narrow" panose="020B0606020202030204" pitchFamily="34" charset="0"/>
              </a:rPr>
              <a:t>: A string representing the brand of the fragrance product.</a:t>
            </a:r>
          </a:p>
          <a:p>
            <a:pPr marL="0" indent="0">
              <a:buNone/>
            </a:pPr>
            <a:r>
              <a:rPr lang="en-US" dirty="0" smtClean="0">
                <a:latin typeface="Arial Narrow" panose="020B0606020202030204" pitchFamily="34" charset="0"/>
              </a:rPr>
              <a:t>           price</a:t>
            </a:r>
            <a:r>
              <a:rPr lang="en-US" dirty="0">
                <a:latin typeface="Arial Narrow" panose="020B0606020202030204" pitchFamily="34" charset="0"/>
              </a:rPr>
              <a:t>: A float representing the price of the selected fragrance product.</a:t>
            </a:r>
          </a:p>
          <a:p>
            <a:pPr>
              <a:buFont typeface="Arial" panose="020B0604020202020204" pitchFamily="34" charset="0"/>
              <a:buChar char="•"/>
            </a:pPr>
            <a:r>
              <a:rPr lang="en-US" dirty="0">
                <a:latin typeface="Arial Narrow" panose="020B0606020202030204" pitchFamily="34" charset="0"/>
              </a:rPr>
              <a:t>It provides several member functions:</a:t>
            </a:r>
          </a:p>
          <a:p>
            <a:pPr marL="0" indent="0">
              <a:buNone/>
            </a:pPr>
            <a:r>
              <a:rPr lang="en-US" dirty="0" smtClean="0">
                <a:latin typeface="Arial Narrow" panose="020B0606020202030204" pitchFamily="34" charset="0"/>
              </a:rPr>
              <a:t>     selectCategory</a:t>
            </a:r>
            <a:r>
              <a:rPr lang="en-US" dirty="0">
                <a:latin typeface="Arial Narrow" panose="020B0606020202030204" pitchFamily="34" charset="0"/>
              </a:rPr>
              <a:t>(): Allows the user to choose a category (Men, Women, Unisex).</a:t>
            </a:r>
          </a:p>
          <a:p>
            <a:pPr marL="0" indent="0">
              <a:buNone/>
            </a:pPr>
            <a:r>
              <a:rPr lang="en-US" dirty="0" smtClean="0">
                <a:latin typeface="Arial Narrow" panose="020B0606020202030204" pitchFamily="34" charset="0"/>
              </a:rPr>
              <a:t>      selectFragranceNote</a:t>
            </a:r>
            <a:r>
              <a:rPr lang="en-US" dirty="0">
                <a:latin typeface="Arial Narrow" panose="020B0606020202030204" pitchFamily="34" charset="0"/>
              </a:rPr>
              <a:t>(): Allows the user to choose a fragrance note.</a:t>
            </a:r>
          </a:p>
          <a:p>
            <a:pPr marL="0" indent="0">
              <a:buNone/>
            </a:pPr>
            <a:r>
              <a:rPr lang="en-US" dirty="0" smtClean="0">
                <a:latin typeface="Arial Narrow" panose="020B0606020202030204" pitchFamily="34" charset="0"/>
              </a:rPr>
              <a:t>       setBrand</a:t>
            </a:r>
            <a:r>
              <a:rPr lang="en-US" dirty="0">
                <a:latin typeface="Arial Narrow" panose="020B0606020202030204" pitchFamily="34" charset="0"/>
              </a:rPr>
              <a:t>(): Sets the brand and price based on the selected category and fragrance note.</a:t>
            </a:r>
          </a:p>
          <a:p>
            <a:pPr marL="0" indent="0">
              <a:buNone/>
            </a:pPr>
            <a:r>
              <a:rPr lang="en-US" dirty="0" smtClean="0">
                <a:latin typeface="Arial Narrow" panose="020B0606020202030204" pitchFamily="34" charset="0"/>
              </a:rPr>
              <a:t>       display</a:t>
            </a:r>
            <a:r>
              <a:rPr lang="en-US" dirty="0">
                <a:latin typeface="Arial Narrow" panose="020B0606020202030204" pitchFamily="34" charset="0"/>
              </a:rPr>
              <a:t>(): Displays the user's selected fragrance product and its details.</a:t>
            </a:r>
            <a:endParaRPr lang="en-IN" dirty="0">
              <a:latin typeface="Arial Narrow" panose="020B0606020202030204" pitchFamily="34" charset="0"/>
            </a:endParaRPr>
          </a:p>
        </p:txBody>
      </p:sp>
    </p:spTree>
    <p:extLst>
      <p:ext uri="{BB962C8B-B14F-4D97-AF65-F5344CB8AC3E}">
        <p14:creationId xmlns:p14="http://schemas.microsoft.com/office/powerpoint/2010/main" val="31476220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fontScale="85000" lnSpcReduction="10000"/>
          </a:bodyPr>
          <a:lstStyle/>
          <a:p>
            <a:pPr marL="0" indent="0">
              <a:buNone/>
            </a:pPr>
            <a:r>
              <a:rPr lang="en-US" b="1" dirty="0" smtClean="0"/>
              <a:t>5. SKINCARE</a:t>
            </a:r>
            <a:endParaRPr lang="en-IN" b="1" dirty="0"/>
          </a:p>
          <a:p>
            <a:pPr>
              <a:buFont typeface="Arial" panose="020B0604020202020204" pitchFamily="34" charset="0"/>
              <a:buChar char="•"/>
            </a:pPr>
            <a:r>
              <a:rPr lang="en-US" dirty="0">
                <a:latin typeface="Arial Narrow" panose="020B0606020202030204" pitchFamily="34" charset="0"/>
              </a:rPr>
              <a:t>This class represents the Skincare section of Nykaa products and extends the functionality of the base Nykaa class.</a:t>
            </a:r>
          </a:p>
          <a:p>
            <a:pPr>
              <a:buFont typeface="Arial" panose="020B0604020202020204" pitchFamily="34" charset="0"/>
              <a:buChar char="•"/>
            </a:pPr>
            <a:r>
              <a:rPr lang="en-US" dirty="0">
                <a:latin typeface="Arial Narrow" panose="020B0606020202030204" pitchFamily="34" charset="0"/>
              </a:rPr>
              <a:t>It has four data members:</a:t>
            </a:r>
          </a:p>
          <a:p>
            <a:pPr marL="0" indent="0">
              <a:buNone/>
            </a:pPr>
            <a:r>
              <a:rPr lang="en-US" dirty="0" smtClean="0">
                <a:latin typeface="Arial Narrow" panose="020B0606020202030204" pitchFamily="34" charset="0"/>
              </a:rPr>
              <a:t>         skintype</a:t>
            </a:r>
            <a:r>
              <a:rPr lang="en-US" dirty="0">
                <a:latin typeface="Arial Narrow" panose="020B0606020202030204" pitchFamily="34" charset="0"/>
              </a:rPr>
              <a:t>: A string representing the user's skin type (Dry, Oily, Normal, Combination).</a:t>
            </a:r>
          </a:p>
          <a:p>
            <a:pPr marL="0" indent="0">
              <a:buNone/>
            </a:pPr>
            <a:r>
              <a:rPr lang="en-US" dirty="0" smtClean="0">
                <a:latin typeface="Arial Narrow" panose="020B0606020202030204" pitchFamily="34" charset="0"/>
              </a:rPr>
              <a:t>         brandname</a:t>
            </a:r>
            <a:r>
              <a:rPr lang="en-US" dirty="0">
                <a:latin typeface="Arial Narrow" panose="020B0606020202030204" pitchFamily="34" charset="0"/>
              </a:rPr>
              <a:t>: A string representing the brand of the skincare product (Loreal, Olay, Neutrogena, Cetaphil, Clinique).</a:t>
            </a:r>
          </a:p>
          <a:p>
            <a:pPr marL="0" indent="0">
              <a:buNone/>
            </a:pPr>
            <a:r>
              <a:rPr lang="en-US" dirty="0" smtClean="0">
                <a:latin typeface="Arial Narrow" panose="020B0606020202030204" pitchFamily="34" charset="0"/>
              </a:rPr>
              <a:t>          producttype</a:t>
            </a:r>
            <a:r>
              <a:rPr lang="en-US" dirty="0">
                <a:latin typeface="Arial Narrow" panose="020B0606020202030204" pitchFamily="34" charset="0"/>
              </a:rPr>
              <a:t>: A string representing the type of skincare product (Moisturizer, Toner).</a:t>
            </a:r>
          </a:p>
          <a:p>
            <a:pPr>
              <a:buFont typeface="Arial" panose="020B0604020202020204" pitchFamily="34" charset="0"/>
              <a:buChar char="•"/>
            </a:pPr>
            <a:r>
              <a:rPr lang="en-US" dirty="0">
                <a:latin typeface="Arial Narrow" panose="020B0606020202030204" pitchFamily="34" charset="0"/>
              </a:rPr>
              <a:t>It provides several member functions:</a:t>
            </a:r>
          </a:p>
          <a:p>
            <a:pPr marL="0" indent="0">
              <a:buNone/>
            </a:pPr>
            <a:r>
              <a:rPr lang="en-US" dirty="0" smtClean="0">
                <a:latin typeface="Arial Narrow" panose="020B0606020202030204" pitchFamily="34" charset="0"/>
              </a:rPr>
              <a:t>       selectSkinType</a:t>
            </a:r>
            <a:r>
              <a:rPr lang="en-US" dirty="0">
                <a:latin typeface="Arial Narrow" panose="020B0606020202030204" pitchFamily="34" charset="0"/>
              </a:rPr>
              <a:t>(): Allows the user to choose their skin type.</a:t>
            </a:r>
          </a:p>
          <a:p>
            <a:pPr marL="0" indent="0">
              <a:buNone/>
            </a:pPr>
            <a:r>
              <a:rPr lang="en-US" dirty="0" smtClean="0">
                <a:latin typeface="Arial Narrow" panose="020B0606020202030204" pitchFamily="34" charset="0"/>
              </a:rPr>
              <a:t>      selectBrand</a:t>
            </a:r>
            <a:r>
              <a:rPr lang="en-US" dirty="0">
                <a:latin typeface="Arial Narrow" panose="020B0606020202030204" pitchFamily="34" charset="0"/>
              </a:rPr>
              <a:t>(): Allows the user to choose a brand (Loreal, Olay, Neutrogena, Cetaphil, Clinique).</a:t>
            </a:r>
          </a:p>
          <a:p>
            <a:pPr marL="0" indent="0">
              <a:buNone/>
            </a:pPr>
            <a:r>
              <a:rPr lang="en-US" dirty="0" smtClean="0">
                <a:latin typeface="Arial Narrow" panose="020B0606020202030204" pitchFamily="34" charset="0"/>
              </a:rPr>
              <a:t>       selectProductType</a:t>
            </a:r>
            <a:r>
              <a:rPr lang="en-US" dirty="0">
                <a:latin typeface="Arial Narrow" panose="020B0606020202030204" pitchFamily="34" charset="0"/>
              </a:rPr>
              <a:t>(): Allows the user to choose a product type (Moisturizer, Toner).</a:t>
            </a:r>
          </a:p>
          <a:p>
            <a:pPr marL="0" indent="0">
              <a:buNone/>
            </a:pPr>
            <a:r>
              <a:rPr lang="en-US" dirty="0" smtClean="0">
                <a:latin typeface="Arial Narrow" panose="020B0606020202030204" pitchFamily="34" charset="0"/>
              </a:rPr>
              <a:t>      display</a:t>
            </a:r>
            <a:r>
              <a:rPr lang="en-US" dirty="0">
                <a:latin typeface="Arial Narrow" panose="020B0606020202030204" pitchFamily="34" charset="0"/>
              </a:rPr>
              <a:t>(): Displays the user's selected skincare product and its details, including the price</a:t>
            </a:r>
            <a:endParaRPr lang="en-IN" dirty="0">
              <a:latin typeface="Arial Narrow" panose="020B0606020202030204" pitchFamily="34" charset="0"/>
            </a:endParaRPr>
          </a:p>
        </p:txBody>
      </p:sp>
    </p:spTree>
    <p:extLst>
      <p:ext uri="{BB962C8B-B14F-4D97-AF65-F5344CB8AC3E}">
        <p14:creationId xmlns:p14="http://schemas.microsoft.com/office/powerpoint/2010/main" val="760849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marL="0" indent="0">
              <a:buNone/>
            </a:pPr>
            <a:r>
              <a:rPr lang="en-US" b="1" dirty="0" smtClean="0"/>
              <a:t>6. REATIL STORE</a:t>
            </a:r>
            <a:endParaRPr lang="en-IN" b="1" dirty="0"/>
          </a:p>
          <a:p>
            <a:pPr>
              <a:buFont typeface="Arial" panose="020B0604020202020204" pitchFamily="34" charset="0"/>
              <a:buChar char="•"/>
            </a:pPr>
            <a:r>
              <a:rPr lang="en-US" dirty="0">
                <a:latin typeface="Arial Narrow" panose="020B0606020202030204" pitchFamily="34" charset="0"/>
              </a:rPr>
              <a:t>This class represents the Retailstore section of Nykaa, where the user can find the nearest Nykaa store in a selected city.</a:t>
            </a:r>
          </a:p>
          <a:p>
            <a:pPr>
              <a:buFont typeface="Arial" panose="020B0604020202020204" pitchFamily="34" charset="0"/>
              <a:buChar char="•"/>
            </a:pPr>
            <a:r>
              <a:rPr lang="en-US" dirty="0">
                <a:latin typeface="Arial Narrow" panose="020B0606020202030204" pitchFamily="34" charset="0"/>
              </a:rPr>
              <a:t>It has two data members:</a:t>
            </a:r>
          </a:p>
          <a:p>
            <a:pPr marL="0" indent="0">
              <a:buNone/>
            </a:pPr>
            <a:r>
              <a:rPr lang="en-US" dirty="0" smtClean="0">
                <a:latin typeface="Arial Narrow" panose="020B0606020202030204" pitchFamily="34" charset="0"/>
              </a:rPr>
              <a:t>      cityname</a:t>
            </a:r>
            <a:r>
              <a:rPr lang="en-US" dirty="0">
                <a:latin typeface="Arial Narrow" panose="020B0606020202030204" pitchFamily="34" charset="0"/>
              </a:rPr>
              <a:t>: A string representing the city name where the user wants to find the nearest Nykaa store.</a:t>
            </a:r>
          </a:p>
          <a:p>
            <a:pPr marL="0" indent="0">
              <a:buNone/>
            </a:pPr>
            <a:r>
              <a:rPr lang="en-US" dirty="0" smtClean="0">
                <a:latin typeface="Arial Narrow" panose="020B0606020202030204" pitchFamily="34" charset="0"/>
              </a:rPr>
              <a:t>      nearestStore</a:t>
            </a:r>
            <a:r>
              <a:rPr lang="en-US" dirty="0">
                <a:latin typeface="Arial Narrow" panose="020B0606020202030204" pitchFamily="34" charset="0"/>
              </a:rPr>
              <a:t>: A string representing the name of the nearest Nykaa store in the selected city.</a:t>
            </a:r>
          </a:p>
          <a:p>
            <a:pPr>
              <a:buFont typeface="Arial" panose="020B0604020202020204" pitchFamily="34" charset="0"/>
              <a:buChar char="•"/>
            </a:pPr>
            <a:r>
              <a:rPr lang="en-US" dirty="0">
                <a:latin typeface="Arial Narrow" panose="020B0606020202030204" pitchFamily="34" charset="0"/>
              </a:rPr>
              <a:t>It provides several member functions:</a:t>
            </a:r>
          </a:p>
          <a:p>
            <a:pPr marL="0" indent="0">
              <a:buNone/>
            </a:pPr>
            <a:r>
              <a:rPr lang="en-US" dirty="0" smtClean="0">
                <a:latin typeface="Arial Narrow" panose="020B0606020202030204" pitchFamily="34" charset="0"/>
              </a:rPr>
              <a:t>     selectCity</a:t>
            </a:r>
            <a:r>
              <a:rPr lang="en-US" dirty="0">
                <a:latin typeface="Arial Narrow" panose="020B0606020202030204" pitchFamily="34" charset="0"/>
              </a:rPr>
              <a:t>(): Allows the user to choose a city (Delhi, Mumbai, Bangalore, Chennai, Kolkata).</a:t>
            </a:r>
          </a:p>
          <a:p>
            <a:pPr marL="0" indent="0">
              <a:buNone/>
            </a:pPr>
            <a:r>
              <a:rPr lang="en-US" dirty="0" smtClean="0">
                <a:latin typeface="Arial Narrow" panose="020B0606020202030204" pitchFamily="34" charset="0"/>
              </a:rPr>
              <a:t>    display</a:t>
            </a:r>
            <a:r>
              <a:rPr lang="en-US" dirty="0">
                <a:latin typeface="Arial Narrow" panose="020B0606020202030204" pitchFamily="34" charset="0"/>
              </a:rPr>
              <a:t>(): Displays the user's selected city and the nearest Nykaa store.</a:t>
            </a:r>
            <a:endParaRPr lang="en-IN" dirty="0">
              <a:latin typeface="Arial Narrow" panose="020B0606020202030204" pitchFamily="34" charset="0"/>
            </a:endParaRPr>
          </a:p>
        </p:txBody>
      </p:sp>
    </p:spTree>
    <p:extLst>
      <p:ext uri="{BB962C8B-B14F-4D97-AF65-F5344CB8AC3E}">
        <p14:creationId xmlns:p14="http://schemas.microsoft.com/office/powerpoint/2010/main" val="26250711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OOPS CONCEPTS USED</a:t>
            </a:r>
            <a:endParaRPr lang="en-IN" dirty="0"/>
          </a:p>
        </p:txBody>
      </p:sp>
      <p:sp>
        <p:nvSpPr>
          <p:cNvPr id="3" name="Content Placeholder 2"/>
          <p:cNvSpPr>
            <a:spLocks noGrp="1"/>
          </p:cNvSpPr>
          <p:nvPr>
            <p:ph idx="1"/>
          </p:nvPr>
        </p:nvSpPr>
        <p:spPr>
          <a:xfrm>
            <a:off x="1224951" y="1570009"/>
            <a:ext cx="10279661" cy="5149968"/>
          </a:xfrm>
        </p:spPr>
        <p:txBody>
          <a:bodyPr>
            <a:noAutofit/>
          </a:bodyPr>
          <a:lstStyle/>
          <a:p>
            <a:pPr>
              <a:buFont typeface="Arial" panose="020B0604020202020204" pitchFamily="34" charset="0"/>
              <a:buChar char="•"/>
            </a:pPr>
            <a:r>
              <a:rPr lang="en-US" b="1" dirty="0">
                <a:latin typeface="Arial Narrow" panose="020B0606020202030204" pitchFamily="34" charset="0"/>
              </a:rPr>
              <a:t>Classes and Objects</a:t>
            </a:r>
            <a:r>
              <a:rPr lang="en-US" dirty="0">
                <a:latin typeface="Arial Narrow" panose="020B0606020202030204" pitchFamily="34" charset="0"/>
              </a:rPr>
              <a:t>: Classes are used to define the blueprint for objects, and objects are instances of these classes. In the code, we have several classes: Nykaa, Makeup, Haircare, Fragrance, Skincare, and Retailstore. Each class represents different sections of a Nykaa store, and objects of these classes are created to store user selections and display information.</a:t>
            </a:r>
          </a:p>
          <a:p>
            <a:pPr marL="0" indent="0">
              <a:buNone/>
            </a:pPr>
            <a:endParaRPr lang="en-US" dirty="0">
              <a:latin typeface="Arial Narrow" panose="020B0606020202030204" pitchFamily="34" charset="0"/>
            </a:endParaRPr>
          </a:p>
          <a:p>
            <a:pPr>
              <a:buFont typeface="Arial" panose="020B0604020202020204" pitchFamily="34" charset="0"/>
              <a:buChar char="•"/>
            </a:pPr>
            <a:r>
              <a:rPr lang="en-US" b="1" dirty="0">
                <a:latin typeface="Arial Narrow" panose="020B0606020202030204" pitchFamily="34" charset="0"/>
              </a:rPr>
              <a:t>Inheritance</a:t>
            </a:r>
            <a:r>
              <a:rPr lang="en-US" dirty="0">
                <a:latin typeface="Arial Narrow" panose="020B0606020202030204" pitchFamily="34" charset="0"/>
              </a:rPr>
              <a:t>: The code demonstrates inheritance, where some classes inherit properties and behaviors from a base class. For example, Makeup, Haircare, Fragrance, and Skincare are subclasses of the Nykaa class. They inherit the username, password, and id properties from the Nykaa class</a:t>
            </a:r>
            <a:r>
              <a:rPr lang="en-US" dirty="0" smtClean="0">
                <a:latin typeface="Arial Narrow" panose="020B0606020202030204" pitchFamily="34" charset="0"/>
              </a:rPr>
              <a:t>.</a:t>
            </a:r>
          </a:p>
          <a:p>
            <a:pPr>
              <a:buFont typeface="Arial" panose="020B0604020202020204" pitchFamily="34" charset="0"/>
              <a:buChar char="•"/>
            </a:pPr>
            <a:r>
              <a:rPr lang="en-US" dirty="0" smtClean="0">
                <a:latin typeface="Arial Narrow" panose="020B0606020202030204" pitchFamily="34" charset="0"/>
              </a:rPr>
              <a:t> </a:t>
            </a:r>
            <a:r>
              <a:rPr lang="en-US" b="1" dirty="0">
                <a:latin typeface="Arial Narrow" panose="020B0606020202030204" pitchFamily="34" charset="0"/>
              </a:rPr>
              <a:t>Encapsulation</a:t>
            </a:r>
            <a:r>
              <a:rPr lang="en-US" dirty="0">
                <a:latin typeface="Arial Narrow" panose="020B0606020202030204" pitchFamily="34" charset="0"/>
              </a:rPr>
              <a:t>: The classes encapsulate data and related methods within themselves. For example, the properties username, password, and id are private members of the Nykaa class and can be accessed only through member functions. This encapsulation helps in data hiding and preventing direct access to internal data from outside the class</a:t>
            </a:r>
            <a:r>
              <a:rPr lang="en-US" dirty="0" smtClean="0">
                <a:latin typeface="Arial Narrow" panose="020B0606020202030204" pitchFamily="34" charset="0"/>
              </a:rPr>
              <a:t>.</a:t>
            </a:r>
          </a:p>
          <a:p>
            <a:pPr>
              <a:buFont typeface="Arial" panose="020B0604020202020204" pitchFamily="34" charset="0"/>
              <a:buChar char="•"/>
            </a:pPr>
            <a:r>
              <a:rPr lang="en-US" dirty="0" smtClean="0">
                <a:latin typeface="Arial Narrow" panose="020B0606020202030204" pitchFamily="34" charset="0"/>
              </a:rPr>
              <a:t>   </a:t>
            </a:r>
            <a:r>
              <a:rPr lang="en-US" b="1" dirty="0" smtClean="0">
                <a:latin typeface="Arial Narrow" panose="020B0606020202030204" pitchFamily="34" charset="0"/>
              </a:rPr>
              <a:t>Polymorphism</a:t>
            </a:r>
            <a:r>
              <a:rPr lang="en-US" dirty="0">
                <a:latin typeface="Arial Narrow" panose="020B0606020202030204" pitchFamily="34" charset="0"/>
              </a:rPr>
              <a:t>: Polymorphism is demonstrated through function overriding. The display function is overridden in </a:t>
            </a:r>
            <a:r>
              <a:rPr lang="en-US" dirty="0" smtClean="0">
                <a:latin typeface="Arial Narrow" panose="020B0606020202030204" pitchFamily="34" charset="0"/>
              </a:rPr>
              <a:t>      each </a:t>
            </a:r>
            <a:r>
              <a:rPr lang="en-US" dirty="0">
                <a:latin typeface="Arial Narrow" panose="020B0606020202030204" pitchFamily="34" charset="0"/>
              </a:rPr>
              <a:t>subclass (Makeup, Haircare, Fragrance, Skincare, and Retailstore). The function is defined in the base class Nykaa as virtual, and each subclass provides its own implementation, allowing for different behaviors when calling the display function on different objects.</a:t>
            </a:r>
          </a:p>
          <a:p>
            <a:pPr marL="0" indent="0">
              <a:buNone/>
            </a:pPr>
            <a:endParaRPr lang="en-US" dirty="0">
              <a:latin typeface="Arial Narrow" panose="020B0606020202030204" pitchFamily="34" charset="0"/>
            </a:endParaRPr>
          </a:p>
          <a:p>
            <a:pPr>
              <a:buFont typeface="Arial" panose="020B0604020202020204" pitchFamily="34" charset="0"/>
              <a:buChar char="•"/>
            </a:pPr>
            <a:endParaRPr lang="en-US" dirty="0">
              <a:latin typeface="Arial Narrow" panose="020B0606020202030204" pitchFamily="34" charset="0"/>
            </a:endParaRPr>
          </a:p>
          <a:p>
            <a:pPr>
              <a:buFont typeface="Arial" panose="020B0604020202020204" pitchFamily="34" charset="0"/>
              <a:buChar char="•"/>
            </a:pPr>
            <a:endParaRPr lang="en-US" sz="1600" dirty="0">
              <a:latin typeface="Arial Narrow" panose="020B0606020202030204" pitchFamily="34" charset="0"/>
            </a:endParaRPr>
          </a:p>
          <a:p>
            <a:pPr marL="0" indent="0">
              <a:buNone/>
            </a:pPr>
            <a:endParaRPr lang="en-US" sz="2400" dirty="0">
              <a:latin typeface="Arial Narrow" panose="020B0606020202030204" pitchFamily="34" charset="0"/>
            </a:endParaRPr>
          </a:p>
          <a:p>
            <a:pPr marL="0" indent="0">
              <a:buNone/>
            </a:pPr>
            <a:r>
              <a:rPr lang="en-US" sz="2400" dirty="0" smtClean="0">
                <a:latin typeface="Arial Narrow" panose="020B0606020202030204" pitchFamily="34" charset="0"/>
              </a:rPr>
              <a:t>\</a:t>
            </a:r>
            <a:endParaRPr lang="en-IN" sz="2400" dirty="0">
              <a:latin typeface="Arial Narrow" panose="020B0606020202030204" pitchFamily="34" charset="0"/>
            </a:endParaRPr>
          </a:p>
        </p:txBody>
      </p:sp>
    </p:spTree>
    <p:extLst>
      <p:ext uri="{BB962C8B-B14F-4D97-AF65-F5344CB8AC3E}">
        <p14:creationId xmlns:p14="http://schemas.microsoft.com/office/powerpoint/2010/main" val="5786570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830088" y="1210574"/>
            <a:ext cx="8915400" cy="3777622"/>
          </a:xfrm>
        </p:spPr>
        <p:txBody>
          <a:bodyPr>
            <a:normAutofit/>
          </a:bodyPr>
          <a:lstStyle/>
          <a:p>
            <a:pPr marL="0" indent="0">
              <a:buNone/>
            </a:pPr>
            <a:endParaRPr lang="en-US" dirty="0">
              <a:latin typeface="Arial Narrow" panose="020B0606020202030204" pitchFamily="34" charset="0"/>
            </a:endParaRPr>
          </a:p>
          <a:p>
            <a:pPr>
              <a:buFont typeface="Arial" panose="020B0604020202020204" pitchFamily="34" charset="0"/>
              <a:buChar char="•"/>
            </a:pPr>
            <a:r>
              <a:rPr lang="en-US" b="1" dirty="0">
                <a:latin typeface="Arial Narrow" panose="020B0606020202030204" pitchFamily="34" charset="0"/>
              </a:rPr>
              <a:t>Template Function</a:t>
            </a:r>
            <a:r>
              <a:rPr lang="en-US" dirty="0">
                <a:latin typeface="Arial Narrow" panose="020B0606020202030204" pitchFamily="34" charset="0"/>
              </a:rPr>
              <a:t>: The displayWelcomeMessage function is a template function that accepts a generic argument (T) and displays a welcome message. Templates provide a way to create generic functions that can work with different </a:t>
            </a:r>
            <a:r>
              <a:rPr lang="en-US" dirty="0" smtClean="0">
                <a:latin typeface="Arial Narrow" panose="020B0606020202030204" pitchFamily="34" charset="0"/>
              </a:rPr>
              <a:t>types.</a:t>
            </a:r>
          </a:p>
          <a:p>
            <a:pPr>
              <a:buFont typeface="Arial" panose="020B0604020202020204" pitchFamily="34" charset="0"/>
              <a:buChar char="•"/>
            </a:pPr>
            <a:r>
              <a:rPr lang="en-US" b="1" dirty="0" smtClean="0">
                <a:latin typeface="Arial Narrow" panose="020B0606020202030204" pitchFamily="34" charset="0"/>
              </a:rPr>
              <a:t>Exception </a:t>
            </a:r>
            <a:r>
              <a:rPr lang="en-US" b="1" dirty="0">
                <a:latin typeface="Arial Narrow" panose="020B0606020202030204" pitchFamily="34" charset="0"/>
              </a:rPr>
              <a:t>Handling</a:t>
            </a:r>
            <a:r>
              <a:rPr lang="en-US" dirty="0">
                <a:latin typeface="Arial Narrow" panose="020B0606020202030204" pitchFamily="34" charset="0"/>
              </a:rPr>
              <a:t>: The code uses exception handling to catch and handle specific errors. For example, when a user enters an invalid password containing special characters, an InvalidPasswordException is thrown and caught to display an error message</a:t>
            </a:r>
            <a:r>
              <a:rPr lang="en-US" dirty="0" smtClean="0">
                <a:latin typeface="Arial Narrow" panose="020B0606020202030204" pitchFamily="34" charset="0"/>
              </a:rPr>
              <a:t>.</a:t>
            </a:r>
          </a:p>
          <a:p>
            <a:pPr>
              <a:buFont typeface="Arial" panose="020B0604020202020204" pitchFamily="34" charset="0"/>
              <a:buChar char="•"/>
            </a:pPr>
            <a:r>
              <a:rPr lang="en-US" b="1" dirty="0" smtClean="0">
                <a:latin typeface="Arial Narrow" panose="020B0606020202030204" pitchFamily="34" charset="0"/>
              </a:rPr>
              <a:t> Maps</a:t>
            </a:r>
            <a:r>
              <a:rPr lang="en-US" dirty="0" smtClean="0">
                <a:latin typeface="Arial Narrow" panose="020B0606020202030204" pitchFamily="34" charset="0"/>
              </a:rPr>
              <a:t>:  maps </a:t>
            </a:r>
            <a:r>
              <a:rPr lang="en-US" dirty="0">
                <a:latin typeface="Arial Narrow" panose="020B0606020202030204" pitchFamily="34" charset="0"/>
              </a:rPr>
              <a:t>are used, which internally use vectors. The </a:t>
            </a:r>
            <a:r>
              <a:rPr lang="en-US" dirty="0" err="1">
                <a:latin typeface="Arial Narrow" panose="020B0606020202030204" pitchFamily="34" charset="0"/>
              </a:rPr>
              <a:t>std</a:t>
            </a:r>
            <a:r>
              <a:rPr lang="en-US" dirty="0">
                <a:latin typeface="Arial Narrow" panose="020B0606020202030204" pitchFamily="34" charset="0"/>
              </a:rPr>
              <a:t>::map container is used to store and access data. Maps are associative containers that store elements in a key-value pair format, similar to dictionaries in Python. In the code, maps are used to store product prices based on the selected brand and product type in the Makeup, Haircare, Fragrance, and Skincare classes.</a:t>
            </a:r>
          </a:p>
          <a:p>
            <a:pPr marL="0" indent="0">
              <a:buNone/>
            </a:pPr>
            <a:endParaRPr lang="en-IN" dirty="0"/>
          </a:p>
        </p:txBody>
      </p:sp>
    </p:spTree>
    <p:extLst>
      <p:ext uri="{BB962C8B-B14F-4D97-AF65-F5344CB8AC3E}">
        <p14:creationId xmlns:p14="http://schemas.microsoft.com/office/powerpoint/2010/main" val="2794343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71295" y="1374477"/>
            <a:ext cx="8915400" cy="3777622"/>
          </a:xfrm>
        </p:spPr>
        <p:txBody>
          <a:bodyPr/>
          <a:lstStyle/>
          <a:p>
            <a:pPr>
              <a:buFont typeface="Arial" panose="020B0604020202020204" pitchFamily="34" charset="0"/>
              <a:buChar char="•"/>
            </a:pPr>
            <a:r>
              <a:rPr lang="en-US" b="1" dirty="0" smtClean="0">
                <a:latin typeface="Arial Narrow" panose="020B0606020202030204" pitchFamily="34" charset="0"/>
              </a:rPr>
              <a:t>Virtual functions </a:t>
            </a:r>
            <a:r>
              <a:rPr lang="en-US" dirty="0" smtClean="0">
                <a:latin typeface="Arial Narrow" panose="020B0606020202030204" pitchFamily="34" charset="0"/>
              </a:rPr>
              <a:t>:virtual </a:t>
            </a:r>
            <a:r>
              <a:rPr lang="en-US" dirty="0">
                <a:latin typeface="Arial Narrow" panose="020B0606020202030204" pitchFamily="34" charset="0"/>
              </a:rPr>
              <a:t>functions are used in this code Virtual functions allow dynamic polymorphism by enabling the selection of the appropriate function to call based on the runtime type of the object the virtual keyword is used in the base class Nykaa for the login_credentials() function. This indicates that derived classes can override this function with their own implementation. Derived classes such as Makeup, Haircare, Fragrance, Skincare, and Retailstore override the login_credentials() function to provide their specific display behavior.</a:t>
            </a:r>
            <a:endParaRPr lang="en-IN" dirty="0">
              <a:latin typeface="Arial Narrow" panose="020B0606020202030204" pitchFamily="34" charset="0"/>
            </a:endParaRPr>
          </a:p>
        </p:txBody>
      </p:sp>
    </p:spTree>
    <p:extLst>
      <p:ext uri="{BB962C8B-B14F-4D97-AF65-F5344CB8AC3E}">
        <p14:creationId xmlns:p14="http://schemas.microsoft.com/office/powerpoint/2010/main" val="2999323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0450" y="520593"/>
            <a:ext cx="8911687" cy="1280890"/>
          </a:xfrm>
        </p:spPr>
        <p:txBody>
          <a:bodyPr/>
          <a:lstStyle/>
          <a:p>
            <a:r>
              <a:rPr lang="en-US" dirty="0" smtClean="0"/>
              <a:t>DESIGN PATTERNS USED</a:t>
            </a:r>
            <a:endParaRPr lang="en-IN" dirty="0"/>
          </a:p>
        </p:txBody>
      </p:sp>
      <p:sp>
        <p:nvSpPr>
          <p:cNvPr id="3" name="Content Placeholder 2"/>
          <p:cNvSpPr>
            <a:spLocks noGrp="1"/>
          </p:cNvSpPr>
          <p:nvPr>
            <p:ph idx="1"/>
          </p:nvPr>
        </p:nvSpPr>
        <p:spPr>
          <a:xfrm>
            <a:off x="1907725" y="2073215"/>
            <a:ext cx="8915400" cy="3777622"/>
          </a:xfrm>
        </p:spPr>
        <p:txBody>
          <a:bodyPr>
            <a:normAutofit lnSpcReduction="10000"/>
          </a:bodyPr>
          <a:lstStyle/>
          <a:p>
            <a:pPr>
              <a:buFont typeface="Arial" panose="020B0604020202020204" pitchFamily="34" charset="0"/>
              <a:buChar char="•"/>
            </a:pPr>
            <a:r>
              <a:rPr lang="en-US" dirty="0">
                <a:latin typeface="Arial Narrow" panose="020B0606020202030204" pitchFamily="34" charset="0"/>
              </a:rPr>
              <a:t>Factory Method Pattern (Creational</a:t>
            </a:r>
            <a:r>
              <a:rPr lang="en-US" dirty="0" smtClean="0">
                <a:latin typeface="Arial Narrow" panose="020B0606020202030204" pitchFamily="34" charset="0"/>
              </a:rPr>
              <a:t>):</a:t>
            </a:r>
          </a:p>
          <a:p>
            <a:pPr marL="0" indent="0">
              <a:buNone/>
            </a:pPr>
            <a:r>
              <a:rPr lang="en-US" dirty="0" smtClean="0">
                <a:latin typeface="Arial Narrow" panose="020B0606020202030204" pitchFamily="34" charset="0"/>
              </a:rPr>
              <a:t> The </a:t>
            </a:r>
            <a:r>
              <a:rPr lang="en-US" dirty="0">
                <a:latin typeface="Arial Narrow" panose="020B0606020202030204" pitchFamily="34" charset="0"/>
              </a:rPr>
              <a:t>code employs a factory method pattern when creating objects for different sections (Makeup, </a:t>
            </a:r>
            <a:r>
              <a:rPr lang="en-US" dirty="0" smtClean="0">
                <a:latin typeface="Arial Narrow" panose="020B0606020202030204" pitchFamily="34" charset="0"/>
              </a:rPr>
              <a:t>           Haircare</a:t>
            </a:r>
            <a:r>
              <a:rPr lang="en-US" dirty="0">
                <a:latin typeface="Arial Narrow" panose="020B0606020202030204" pitchFamily="34" charset="0"/>
              </a:rPr>
              <a:t>, Fragrance, Skincare, Retailstore). Instead of directly creating objects using constructors, the code uses functions (selectProductType, selectBrand, etc.) within each class to create and configure objects based on user input. These functions act as factory methods that encapsulate object creation logic, promoting flexibility and decoupling between the client code and the specific class implementations.</a:t>
            </a:r>
          </a:p>
          <a:p>
            <a:pPr>
              <a:buFont typeface="Arial" panose="020B0604020202020204" pitchFamily="34" charset="0"/>
              <a:buChar char="•"/>
            </a:pPr>
            <a:r>
              <a:rPr lang="en-US" dirty="0">
                <a:latin typeface="Arial Narrow" panose="020B0606020202030204" pitchFamily="34" charset="0"/>
              </a:rPr>
              <a:t>Template Method Pattern (Behavioral - Partial):</a:t>
            </a:r>
          </a:p>
          <a:p>
            <a:pPr marL="0" indent="0">
              <a:buNone/>
            </a:pPr>
            <a:r>
              <a:rPr lang="en-US" dirty="0">
                <a:latin typeface="Arial Narrow" panose="020B0606020202030204" pitchFamily="34" charset="0"/>
              </a:rPr>
              <a:t>The displayWelcomeMessage function can be seen as a partial implementation of the Template Method pattern. It is a generic function that provides the structure (the "template") for displaying a welcome message, with the specific message being supplied as an argument. Although the pattern's full implementation would require multiple steps and potentially varying implementations across derived classes, the basic idea of a template method is present in the code.</a:t>
            </a:r>
            <a:endParaRPr lang="en-IN" dirty="0">
              <a:latin typeface="Arial Narrow" panose="020B0606020202030204" pitchFamily="34" charset="0"/>
            </a:endParaRPr>
          </a:p>
        </p:txBody>
      </p:sp>
    </p:spTree>
    <p:extLst>
      <p:ext uri="{BB962C8B-B14F-4D97-AF65-F5344CB8AC3E}">
        <p14:creationId xmlns:p14="http://schemas.microsoft.com/office/powerpoint/2010/main" val="28422320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marL="0" indent="0">
              <a:buNone/>
            </a:pPr>
            <a:r>
              <a:rPr lang="en-US" dirty="0"/>
              <a:t> </a:t>
            </a:r>
            <a:r>
              <a:rPr lang="en-US" dirty="0" smtClean="0"/>
              <a:t>                                                                                                                                                                                                                                                                                                                                   </a:t>
            </a:r>
            <a:endParaRPr lang="en-IN" dirty="0"/>
          </a:p>
        </p:txBody>
      </p:sp>
      <p:pic>
        <p:nvPicPr>
          <p:cNvPr id="4" name="Picture 3"/>
          <p:cNvPicPr>
            <a:picLocks noChangeAspect="1"/>
          </p:cNvPicPr>
          <p:nvPr/>
        </p:nvPicPr>
        <p:blipFill>
          <a:blip r:embed="rId2"/>
          <a:stretch>
            <a:fillRect/>
          </a:stretch>
        </p:blipFill>
        <p:spPr>
          <a:xfrm>
            <a:off x="1" y="0"/>
            <a:ext cx="12370278" cy="6858000"/>
          </a:xfrm>
          <a:prstGeom prst="rect">
            <a:avLst/>
          </a:prstGeom>
        </p:spPr>
      </p:pic>
    </p:spTree>
    <p:extLst>
      <p:ext uri="{BB962C8B-B14F-4D97-AF65-F5344CB8AC3E}">
        <p14:creationId xmlns:p14="http://schemas.microsoft.com/office/powerpoint/2010/main" val="1241784482"/>
      </p:ext>
    </p:extLst>
  </p:cSld>
  <p:clrMapOvr>
    <a:masterClrMapping/>
  </p:clrMapOvr>
</p:sld>
</file>

<file path=ppt/theme/theme1.xml><?xml version="1.0" encoding="utf-8"?>
<a:theme xmlns:a="http://schemas.openxmlformats.org/drawingml/2006/main" name="Wisp">
  <a:themeElements>
    <a:clrScheme name="Custom 1">
      <a:dk1>
        <a:sysClr val="windowText" lastClr="000000"/>
      </a:dk1>
      <a:lt1>
        <a:sysClr val="window" lastClr="FFFFFF"/>
      </a:lt1>
      <a:dk2>
        <a:srgbClr val="FEDAD0"/>
      </a:dk2>
      <a:lt2>
        <a:srgbClr val="FEDAD0"/>
      </a:lt2>
      <a:accent1>
        <a:srgbClr val="FDB6A2"/>
      </a:accent1>
      <a:accent2>
        <a:srgbClr val="FDB6A2"/>
      </a:accent2>
      <a:accent3>
        <a:srgbClr val="FDB6A2"/>
      </a:accent3>
      <a:accent4>
        <a:srgbClr val="FDB6A2"/>
      </a:accent4>
      <a:accent5>
        <a:srgbClr val="FC9274"/>
      </a:accent5>
      <a:accent6>
        <a:srgbClr val="FEDAD0"/>
      </a:accent6>
      <a:hlink>
        <a:srgbClr val="FEDAD0"/>
      </a:hlink>
      <a:folHlink>
        <a:srgbClr val="FEDAD0"/>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1334</TotalTime>
  <Words>1582</Words>
  <Application>Microsoft Office PowerPoint</Application>
  <PresentationFormat>Widescreen</PresentationFormat>
  <Paragraphs>104</Paragraphs>
  <Slides>14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 Unicode MS</vt:lpstr>
      <vt:lpstr>Arial</vt:lpstr>
      <vt:lpstr>Arial Narrow</vt:lpstr>
      <vt:lpstr>Century Gothic</vt:lpstr>
      <vt:lpstr>Wingdings 3</vt:lpstr>
      <vt:lpstr>Wisp</vt:lpstr>
      <vt:lpstr>OOPS  OPEN CHALLENGE         TOPIC: NYKAA</vt:lpstr>
      <vt:lpstr>Application Name: NYKAA</vt:lpstr>
      <vt:lpstr>CLASSES</vt:lpstr>
      <vt:lpstr>DESCRIPTION OF CLASSES</vt:lpstr>
      <vt:lpstr>PowerPoint Presentation</vt:lpstr>
      <vt:lpstr>PowerPoint Presentation</vt:lpstr>
      <vt:lpstr>PowerPoint Presentation</vt:lpstr>
      <vt:lpstr>PowerPoint Presentation</vt:lpstr>
      <vt:lpstr>PowerPoint Presentation</vt:lpstr>
      <vt:lpstr>OOPS CONCEPTS USED</vt:lpstr>
      <vt:lpstr>PowerPoint Presentation</vt:lpstr>
      <vt:lpstr>PowerPoint Presentation</vt:lpstr>
      <vt:lpstr>DESIGN PATTERNS USED</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OOPS  OPEN CHALLENGE</dc:title>
  <dc:creator>Asus</dc:creator>
  <cp:lastModifiedBy>Asus</cp:lastModifiedBy>
  <cp:revision>13</cp:revision>
  <dcterms:created xsi:type="dcterms:W3CDTF">2023-07-21T08:26:12Z</dcterms:created>
  <dcterms:modified xsi:type="dcterms:W3CDTF">2023-07-22T06:41:10Z</dcterms:modified>
</cp:coreProperties>
</file>